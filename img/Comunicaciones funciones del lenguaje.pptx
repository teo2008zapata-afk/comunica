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ayfair Display" panose="00000500000000000000" pitchFamily="2" charset="0"/>
      <p:regular r:id="rId10"/>
      <p:bold r:id="rId11"/>
      <p:italic r:id="rId12"/>
      <p:boldItalic r:id="rId13"/>
    </p:embeddedFont>
    <p:embeddedFont>
      <p:font typeface="Plus Jakarta Sans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258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6206876" cy="6858000"/>
          </a:xfrm>
          <a:prstGeom prst="rect">
            <a:avLst/>
          </a:prstGeom>
          <a:solidFill>
            <a:srgbClr val="171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00062" y="1359247"/>
            <a:ext cx="2276475" cy="304800"/>
          </a:xfrm>
          <a:prstGeom prst="roundRect">
            <a:avLst>
              <a:gd name="adj" fmla="val 50000"/>
            </a:avLst>
          </a:prstGeom>
          <a:solidFill>
            <a:srgbClr val="3F1A3E"/>
          </a:solidFill>
          <a:ln w="9525" cap="flat" cmpd="sng">
            <a:solidFill>
              <a:srgbClr val="E11D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136677"/>
            <a:ext cx="4987676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4136677"/>
            <a:ext cx="49876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1473547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DA4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 DEL LENGUAJE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00062" y="2081538"/>
            <a:ext cx="6546326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Función</a:t>
            </a:r>
            <a:r>
              <a:rPr lang="en-US" sz="42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4200" b="1" i="0" u="none" strike="noStrike" cap="none" dirty="0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Emotiva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3222277"/>
            <a:ext cx="46672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arte de expresar el mundo interior del emisor a través de la palabra.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4374802"/>
            <a:ext cx="4333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INTEGRANTES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4555777"/>
            <a:ext cx="43338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Miguel Moreno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Mateo Zapata</a:t>
            </a:r>
            <a:endParaRPr lang="en-US" sz="1200" b="1" dirty="0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Evelio</a:t>
            </a:r>
            <a:r>
              <a:rPr lang="en-US" sz="1200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Restrepo</a:t>
            </a:r>
            <a:endParaRPr dirty="0"/>
          </a:p>
        </p:txBody>
      </p:sp>
      <p:sp>
        <p:nvSpPr>
          <p:cNvPr id="2" name="Google Shape;102;p14">
            <a:extLst>
              <a:ext uri="{FF2B5EF4-FFF2-40B4-BE49-F238E27FC236}">
                <a16:creationId xmlns:a16="http://schemas.microsoft.com/office/drawing/2014/main" id="{F69D6BF6-8259-3420-53D2-93B4394EF5D3}"/>
              </a:ext>
            </a:extLst>
          </p:cNvPr>
          <p:cNvSpPr txBox="1"/>
          <p:nvPr/>
        </p:nvSpPr>
        <p:spPr>
          <a:xfrm>
            <a:off x="609600" y="609600"/>
            <a:ext cx="175021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4 • PARTE  1</a:t>
            </a:r>
            <a:endParaRPr lang="en-US"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074" name="Picture 2" descr="36 Ejemplos de función emotiva - ¿Cómo se clasifican?">
            <a:extLst>
              <a:ext uri="{FF2B5EF4-FFF2-40B4-BE49-F238E27FC236}">
                <a16:creationId xmlns:a16="http://schemas.microsoft.com/office/drawing/2014/main" id="{74E70D47-8F1C-FBC2-250A-B7A6C348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84" y="-3175"/>
            <a:ext cx="59943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802635" y="3969841"/>
            <a:ext cx="4779764" cy="66675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802634" y="4122241"/>
            <a:ext cx="45719" cy="425117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628775"/>
            <a:ext cx="573583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09600" y="609600"/>
            <a:ext cx="175021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i="0" u="none" strike="noStrike" cap="none" dirty="0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4 • PARTE 2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6802635" y="1899283"/>
            <a:ext cx="5389364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Comunicación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Humana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821685" y="2606130"/>
            <a:ext cx="4875014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lenguaje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 solo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transmite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;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constituye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canal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exteriorizar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ánimo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sentimientos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subjetividades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983610" y="4274641"/>
            <a:ext cx="445591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 Central: Transmitir la subjetividad e interioridad del hablante.</a:t>
            </a:r>
            <a:endParaRPr/>
          </a:p>
        </p:txBody>
      </p:sp>
      <p:pic>
        <p:nvPicPr>
          <p:cNvPr id="2052" name="Picture 4" descr="Comunicación humana: conócela ya - Comunicare">
            <a:extLst>
              <a:ext uri="{FF2B5EF4-FFF2-40B4-BE49-F238E27FC236}">
                <a16:creationId xmlns:a16="http://schemas.microsoft.com/office/drawing/2014/main" id="{86C7AD2F-79AC-71EC-9B0A-539F424A5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555982"/>
            <a:ext cx="5378949" cy="358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609600" y="1682655"/>
            <a:ext cx="2614612" cy="1838325"/>
          </a:xfrm>
          <a:prstGeom prst="roundRect">
            <a:avLst>
              <a:gd name="adj" fmla="val 8290"/>
            </a:avLst>
          </a:prstGeom>
          <a:solidFill>
            <a:srgbClr val="FFF1F2"/>
          </a:solidFill>
          <a:ln w="190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414712" y="1682655"/>
            <a:ext cx="2595562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200775" y="1682655"/>
            <a:ext cx="2595562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9001389" y="1649317"/>
            <a:ext cx="2595562" cy="1838325"/>
          </a:xfrm>
          <a:prstGeom prst="roundRect">
            <a:avLst>
              <a:gd name="adj" fmla="val 829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8306" y="19684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3893" y="19588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9956" y="19588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6018" y="195888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1656" y="210175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7243" y="209223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03306" y="209223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89368" y="209223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1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9600" y="9620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Funciones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Principales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Lenguaje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1371838" y="2578005"/>
            <a:ext cx="109013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Emotiva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44710" y="2892330"/>
            <a:ext cx="27443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Expresa sentimientos y emociones del emisor.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062412" y="2568480"/>
            <a:ext cx="13001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Referencial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349228" y="2863755"/>
            <a:ext cx="272653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 hechos y realidad objetiva.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33485" y="2568480"/>
            <a:ext cx="11301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Apelativa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218634" y="2863755"/>
            <a:ext cx="25598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Influye o actúa sobre el receptor.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794557" y="2568480"/>
            <a:ext cx="9801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Poética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983529" y="2892330"/>
            <a:ext cx="25598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Embellece el mensaje y la forma.</a:t>
            </a:r>
            <a:endParaRPr/>
          </a:p>
        </p:txBody>
      </p:sp>
      <p:pic>
        <p:nvPicPr>
          <p:cNvPr id="1026" name="Picture 2" descr="Funciones del lenguaje - Significado y Ejemplos">
            <a:extLst>
              <a:ext uri="{FF2B5EF4-FFF2-40B4-BE49-F238E27FC236}">
                <a16:creationId xmlns:a16="http://schemas.microsoft.com/office/drawing/2014/main" id="{39F6932C-89DD-A3FA-E598-88AE2A5C4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706718"/>
            <a:ext cx="12192000" cy="315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609600" y="4024312"/>
            <a:ext cx="4745235" cy="409575"/>
          </a:xfrm>
          <a:prstGeom prst="roundRect">
            <a:avLst>
              <a:gd name="adj" fmla="val 1860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09600" y="4548187"/>
            <a:ext cx="4745235" cy="409575"/>
          </a:xfrm>
          <a:prstGeom prst="roundRect">
            <a:avLst>
              <a:gd name="adj" fmla="val 1860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020" y="452765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020" y="5051526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09600" y="1690377"/>
            <a:ext cx="593154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2 • PARTE 1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09600" y="2147887"/>
            <a:ext cx="622812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 y Enfoque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2767012"/>
            <a:ext cx="484048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función emotiva o expresiva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está centrada completamente en el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emisor</a:t>
            </a: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Su objetivo principal es exteriorizar emociones, estados de ánimo, deseos o sensaciones íntimas.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79670" y="4513363"/>
            <a:ext cx="30837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Enfoque total en el sujeto hablante.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79670" y="5037238"/>
            <a:ext cx="25955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Carácter altamente subjetivo.</a:t>
            </a:r>
            <a:endParaRPr/>
          </a:p>
        </p:txBody>
      </p:sp>
      <p:pic>
        <p:nvPicPr>
          <p:cNvPr id="4098" name="Picture 2" descr="Función expresiva - Escolar - ABC Color">
            <a:extLst>
              <a:ext uri="{FF2B5EF4-FFF2-40B4-BE49-F238E27FC236}">
                <a16:creationId xmlns:a16="http://schemas.microsoft.com/office/drawing/2014/main" id="{6CF0C265-4BD7-872A-5AFE-88299FC96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046" y="232541"/>
            <a:ext cx="5101016" cy="639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7164" y="3767137"/>
            <a:ext cx="2857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7164" y="4549902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3364" y="387191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3364" y="4639687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6837164" y="2176462"/>
            <a:ext cx="535483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2 • PARTE 2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6837164" y="2424112"/>
            <a:ext cx="535483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Lingüísticos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837164" y="2950094"/>
            <a:ext cx="484048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manifestar esta función, la lengua utiliza herramientas gramaticales y entonativas específicas: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237214" y="3823037"/>
            <a:ext cx="41505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Interjecciones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exclamaciones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7237214" y="4117062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constante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signos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(¡!) y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expresiones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directas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7218164" y="4620792"/>
            <a:ext cx="497383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Primera persona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7237214" y="4879455"/>
            <a:ext cx="497383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prominente de verbos y pronombres ("Yo siento", "Me alegra").</a:t>
            </a:r>
            <a:endParaRPr/>
          </a:p>
        </p:txBody>
      </p:sp>
      <p:pic>
        <p:nvPicPr>
          <p:cNvPr id="5124" name="Picture 4" descr="9.830.600+ ilustraciones libres de derechos de Emotiva - iStock">
            <a:extLst>
              <a:ext uri="{FF2B5EF4-FFF2-40B4-BE49-F238E27FC236}">
                <a16:creationId xmlns:a16="http://schemas.microsoft.com/office/drawing/2014/main" id="{621D1086-C3BF-83C0-1485-EA6C2608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57" y="1016731"/>
            <a:ext cx="5038344" cy="48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609600" y="2401341"/>
            <a:ext cx="4943475" cy="2674441"/>
          </a:xfrm>
          <a:prstGeom prst="roundRect">
            <a:avLst>
              <a:gd name="adj" fmla="val 5698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000125" y="4332833"/>
            <a:ext cx="494347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000125" y="4332833"/>
            <a:ext cx="494347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09600" y="6096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3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09600" y="8477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Ejemplo Práctico en la Cotidianidad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35034" y="2793454"/>
            <a:ext cx="3976611" cy="126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"¡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Qué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alegría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tan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inmensa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siento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al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verte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nuevo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después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tanto </a:t>
            </a:r>
            <a:r>
              <a:rPr lang="en-US" sz="21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tiempo</a:t>
            </a:r>
            <a:r>
              <a:rPr lang="en-US" sz="21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!"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4504283"/>
            <a:ext cx="617934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Análisis: Transmisión directa de alegría y afecto interior.</a:t>
            </a:r>
            <a:endParaRPr/>
          </a:p>
        </p:txBody>
      </p:sp>
      <p:pic>
        <p:nvPicPr>
          <p:cNvPr id="6150" name="Picture 6" descr="452,643 Personas Felices En La Playa Fotos de stock - Fotos libres de  regalías de Dreamstime">
            <a:extLst>
              <a:ext uri="{FF2B5EF4-FFF2-40B4-BE49-F238E27FC236}">
                <a16:creationId xmlns:a16="http://schemas.microsoft.com/office/drawing/2014/main" id="{A4BCCD50-E5D6-9847-42F7-DAE742D40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210" y="609600"/>
            <a:ext cx="4561187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289" y="945630"/>
            <a:ext cx="1839419" cy="178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8213" y="1222323"/>
            <a:ext cx="1035570" cy="122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2694183" y="3139513"/>
            <a:ext cx="680362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¡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Muchas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Gracias!</a:t>
            </a:r>
            <a:endParaRPr sz="5400"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2881310" y="4381969"/>
            <a:ext cx="64293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Presentación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realizada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Miguel Moreno  Mateo Zapata y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Evelio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Restrepo.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Panorámica</PresentationFormat>
  <Paragraphs>40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Calibri</vt:lpstr>
      <vt:lpstr>Arial</vt:lpstr>
      <vt:lpstr>Plus Jakarta Sans</vt:lpstr>
      <vt:lpstr>Playfair Display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Mateo Zapata Cataño</cp:lastModifiedBy>
  <cp:revision>1</cp:revision>
  <dcterms:modified xsi:type="dcterms:W3CDTF">2026-10-10T14:58:16Z</dcterms:modified>
</cp:coreProperties>
</file>